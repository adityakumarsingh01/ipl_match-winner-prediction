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27"/>
  </p:notesMasterIdLst>
  <p:sldIdLst>
    <p:sldId id="256" r:id="rId2"/>
    <p:sldId id="258" r:id="rId3"/>
    <p:sldId id="259" r:id="rId4"/>
    <p:sldId id="260" r:id="rId5"/>
    <p:sldId id="262" r:id="rId6"/>
    <p:sldId id="261" r:id="rId7"/>
    <p:sldId id="277" r:id="rId8"/>
    <p:sldId id="283" r:id="rId9"/>
    <p:sldId id="278" r:id="rId10"/>
    <p:sldId id="279" r:id="rId11"/>
    <p:sldId id="284" r:id="rId12"/>
    <p:sldId id="280" r:id="rId13"/>
    <p:sldId id="281" r:id="rId14"/>
    <p:sldId id="282" r:id="rId15"/>
    <p:sldId id="269" r:id="rId16"/>
    <p:sldId id="263" r:id="rId17"/>
    <p:sldId id="264" r:id="rId18"/>
    <p:sldId id="267" r:id="rId19"/>
    <p:sldId id="270" r:id="rId20"/>
    <p:sldId id="271" r:id="rId21"/>
    <p:sldId id="273" r:id="rId22"/>
    <p:sldId id="272" r:id="rId23"/>
    <p:sldId id="274" r:id="rId24"/>
    <p:sldId id="275"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52961C-FAF9-4FF9-86E1-01E8644A64D0}" type="datetimeFigureOut">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5D229-B2AD-4ED1-9A05-F70AA2687392}" type="slidenum">
              <a:rPr lang="en-IN" smtClean="0"/>
              <a:t>‹#›</a:t>
            </a:fld>
            <a:endParaRPr lang="en-IN"/>
          </a:p>
        </p:txBody>
      </p:sp>
    </p:spTree>
    <p:extLst>
      <p:ext uri="{BB962C8B-B14F-4D97-AF65-F5344CB8AC3E}">
        <p14:creationId xmlns:p14="http://schemas.microsoft.com/office/powerpoint/2010/main" val="1829725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D5D229-B2AD-4ED1-9A05-F70AA2687392}" type="slidenum">
              <a:rPr lang="en-IN" smtClean="0"/>
              <a:t>2</a:t>
            </a:fld>
            <a:endParaRPr lang="en-IN"/>
          </a:p>
        </p:txBody>
      </p:sp>
    </p:spTree>
    <p:extLst>
      <p:ext uri="{BB962C8B-B14F-4D97-AF65-F5344CB8AC3E}">
        <p14:creationId xmlns:p14="http://schemas.microsoft.com/office/powerpoint/2010/main" val="3899351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4518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8785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4440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819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0476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765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0176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5019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062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0926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0716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9674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981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450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59250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583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1500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738106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7909" y="1791586"/>
            <a:ext cx="10018713" cy="1752599"/>
          </a:xfrm>
        </p:spPr>
        <p:txBody>
          <a:bodyPr>
            <a:normAutofit/>
          </a:bodyPr>
          <a:lstStyle/>
          <a:p>
            <a:r>
              <a:rPr lang="en-IN" sz="4800" dirty="0"/>
              <a:t>IPL MATCH WINNER PREDICTION</a:t>
            </a:r>
            <a:endParaRPr sz="4800" dirty="0"/>
          </a:p>
        </p:txBody>
      </p:sp>
      <p:sp>
        <p:nvSpPr>
          <p:cNvPr id="3" name="Content Placeholder 2"/>
          <p:cNvSpPr>
            <a:spLocks noGrp="1"/>
          </p:cNvSpPr>
          <p:nvPr>
            <p:ph idx="1"/>
          </p:nvPr>
        </p:nvSpPr>
        <p:spPr>
          <a:xfrm>
            <a:off x="6876371" y="4879705"/>
            <a:ext cx="5315630" cy="1981200"/>
          </a:xfrm>
        </p:spPr>
        <p:txBody>
          <a:bodyPr>
            <a:normAutofit lnSpcReduction="10000"/>
          </a:bodyPr>
          <a:lstStyle/>
          <a:p>
            <a:pPr marL="0" indent="0">
              <a:buNone/>
            </a:pPr>
            <a:r>
              <a:rPr lang="en-US" dirty="0"/>
              <a:t>Algorithm : </a:t>
            </a:r>
            <a:r>
              <a:rPr lang="en-US" b="1" dirty="0"/>
              <a:t>Random Forest Classifier</a:t>
            </a:r>
          </a:p>
          <a:p>
            <a:pPr marL="0" indent="0">
              <a:buNone/>
            </a:pPr>
            <a:r>
              <a:rPr lang="en-US" dirty="0"/>
              <a:t>Presented By : Aditya Kumar Singh</a:t>
            </a:r>
          </a:p>
          <a:p>
            <a:pPr marL="0" indent="0">
              <a:buNone/>
            </a:pPr>
            <a:r>
              <a:rPr lang="en-US" dirty="0"/>
              <a:t>Registration No. : 12304738</a:t>
            </a:r>
          </a:p>
          <a:p>
            <a:pPr marL="0" indent="0">
              <a:buNone/>
            </a:pPr>
            <a:r>
              <a:rPr lang="en-US" dirty="0"/>
              <a:t>Dataset Used : IPL 2008 – 2023 Dataset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718457"/>
            <a:ext cx="10018713" cy="1752599"/>
          </a:xfrm>
        </p:spPr>
        <p:txBody>
          <a:bodyPr/>
          <a:lstStyle/>
          <a:p>
            <a:r>
              <a:rPr dirty="0"/>
              <a:t>Problem Statement</a:t>
            </a:r>
          </a:p>
        </p:txBody>
      </p:sp>
      <p:sp>
        <p:nvSpPr>
          <p:cNvPr id="3" name="Content Placeholder 2"/>
          <p:cNvSpPr>
            <a:spLocks noGrp="1"/>
          </p:cNvSpPr>
          <p:nvPr>
            <p:ph idx="1"/>
          </p:nvPr>
        </p:nvSpPr>
        <p:spPr>
          <a:xfrm>
            <a:off x="1484311" y="2666999"/>
            <a:ext cx="9096604" cy="3124201"/>
          </a:xfrm>
        </p:spPr>
        <p:txBody>
          <a:bodyPr>
            <a:normAutofit/>
          </a:bodyPr>
          <a:lstStyle/>
          <a:p>
            <a:pPr>
              <a:buFont typeface="Wingdings" panose="05000000000000000000" pitchFamily="2" charset="2"/>
              <a:buChar char="Ø"/>
            </a:pPr>
            <a:r>
              <a:rPr lang="en-US" sz="2000" dirty="0"/>
              <a:t> The goal of this project is to predict the winner of an IPL match using machine learning. By analyzing past match data such as teams, venue, decision, runs, and wickets, the model learns patterns and relationships that help determine which team is more likely to win. This is treated as a classification problem where the model outputs the predicted winning team for any upcoming match. </a:t>
            </a:r>
          </a:p>
          <a:p>
            <a:pPr>
              <a:buFont typeface="Wingdings" panose="05000000000000000000" pitchFamily="2" charset="2"/>
              <a:buChar char="Ø"/>
            </a:pPr>
            <a:r>
              <a:rPr lang="en-US" sz="2000" dirty="0"/>
              <a:t> Target Variable : </a:t>
            </a:r>
            <a:r>
              <a:rPr lang="en-US" sz="2000" b="1" dirty="0"/>
              <a:t>winner (team name)</a:t>
            </a:r>
          </a:p>
          <a:p>
            <a:pPr>
              <a:buFont typeface="Wingdings" panose="05000000000000000000" pitchFamily="2" charset="2"/>
              <a:buChar char="Ø"/>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85800"/>
            <a:ext cx="10018713" cy="1752599"/>
          </a:xfrm>
        </p:spPr>
        <p:txBody>
          <a:bodyPr/>
          <a:lstStyle/>
          <a:p>
            <a:r>
              <a:rPr dirty="0"/>
              <a:t>Dataset Description</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 </a:t>
            </a:r>
            <a:r>
              <a:rPr dirty="0"/>
              <a:t>IPL 2008–2023 dataset.</a:t>
            </a:r>
          </a:p>
          <a:p>
            <a:pPr lvl="1">
              <a:buFont typeface="Wingdings" panose="05000000000000000000" pitchFamily="2" charset="2"/>
              <a:buChar char="Ø"/>
            </a:pPr>
            <a:r>
              <a:rPr lang="en-US" dirty="0"/>
              <a:t> 43</a:t>
            </a:r>
            <a:r>
              <a:rPr dirty="0"/>
              <a:t> columns, </a:t>
            </a:r>
            <a:r>
              <a:rPr lang="en-US" dirty="0"/>
              <a:t>1032</a:t>
            </a:r>
            <a:r>
              <a:rPr dirty="0"/>
              <a:t> matches.</a:t>
            </a:r>
            <a:endParaRPr lang="en-US" dirty="0"/>
          </a:p>
          <a:p>
            <a:pPr lvl="1">
              <a:buFont typeface="Wingdings" panose="05000000000000000000" pitchFamily="2" charset="2"/>
              <a:buChar char="Ø"/>
            </a:pPr>
            <a:r>
              <a:rPr lang="en-IN" dirty="0"/>
              <a:t> </a:t>
            </a:r>
            <a:r>
              <a:rPr dirty="0"/>
              <a:t>Key fields</a:t>
            </a:r>
            <a:r>
              <a:rPr lang="en-US" dirty="0"/>
              <a:t> </a:t>
            </a:r>
            <a:r>
              <a:rPr dirty="0"/>
              <a:t>:</a:t>
            </a:r>
            <a:r>
              <a:rPr lang="en-IN" dirty="0"/>
              <a:t> team, toss won, decision, venue name, winner</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96686"/>
            <a:ext cx="10018713" cy="1752599"/>
          </a:xfrm>
        </p:spPr>
        <p:txBody>
          <a:bodyPr/>
          <a:lstStyle/>
          <a:p>
            <a:r>
              <a:rPr dirty="0"/>
              <a:t>Data Cleaning</a:t>
            </a:r>
          </a:p>
        </p:txBody>
      </p:sp>
      <p:sp>
        <p:nvSpPr>
          <p:cNvPr id="3" name="Content Placeholder 2"/>
          <p:cNvSpPr>
            <a:spLocks noGrp="1"/>
          </p:cNvSpPr>
          <p:nvPr>
            <p:ph idx="1"/>
          </p:nvPr>
        </p:nvSpPr>
        <p:spPr>
          <a:xfrm>
            <a:off x="1484310" y="3004457"/>
            <a:ext cx="10018713" cy="3124201"/>
          </a:xfrm>
        </p:spPr>
        <p:txBody>
          <a:bodyPr>
            <a:normAutofit/>
          </a:bodyPr>
          <a:lstStyle/>
          <a:p>
            <a:pPr>
              <a:buFont typeface="Wingdings" panose="05000000000000000000" pitchFamily="2" charset="2"/>
              <a:buChar char="Ø"/>
            </a:pPr>
            <a:r>
              <a:rPr lang="en-US" dirty="0"/>
              <a:t> Removed rows with missing important values</a:t>
            </a:r>
          </a:p>
          <a:p>
            <a:pPr>
              <a:buFont typeface="Wingdings" panose="05000000000000000000" pitchFamily="2" charset="2"/>
              <a:buChar char="Ø"/>
            </a:pPr>
            <a:r>
              <a:rPr lang="en-US" dirty="0"/>
              <a:t> Dropped columns with too many nulls (umpire, referee, highlight etc.)</a:t>
            </a:r>
          </a:p>
          <a:p>
            <a:pPr>
              <a:buFont typeface="Wingdings" panose="05000000000000000000" pitchFamily="2" charset="2"/>
              <a:buChar char="Ø"/>
            </a:pPr>
            <a:r>
              <a:rPr lang="en-US" dirty="0"/>
              <a:t> Removed “TBA / TBC” dummy teams</a:t>
            </a:r>
          </a:p>
        </p:txBody>
      </p:sp>
      <p:pic>
        <p:nvPicPr>
          <p:cNvPr id="5" name="Picture 4">
            <a:extLst>
              <a:ext uri="{FF2B5EF4-FFF2-40B4-BE49-F238E27FC236}">
                <a16:creationId xmlns:a16="http://schemas.microsoft.com/office/drawing/2014/main" id="{FE09CC9D-45DB-12AA-3F05-59F16856DE42}"/>
              </a:ext>
            </a:extLst>
          </p:cNvPr>
          <p:cNvPicPr>
            <a:picLocks noChangeAspect="1"/>
          </p:cNvPicPr>
          <p:nvPr/>
        </p:nvPicPr>
        <p:blipFill>
          <a:blip r:embed="rId2"/>
          <a:stretch>
            <a:fillRect/>
          </a:stretch>
        </p:blipFill>
        <p:spPr>
          <a:xfrm>
            <a:off x="2878424" y="2530778"/>
            <a:ext cx="7230484" cy="10669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85800"/>
            <a:ext cx="10018713" cy="1752599"/>
          </a:xfrm>
        </p:spPr>
        <p:txBody>
          <a:bodyPr/>
          <a:lstStyle/>
          <a:p>
            <a:r>
              <a:rPr dirty="0"/>
              <a:t>Outlier Handling</a:t>
            </a:r>
          </a:p>
        </p:txBody>
      </p:sp>
      <p:sp>
        <p:nvSpPr>
          <p:cNvPr id="3" name="Content Placeholder 2"/>
          <p:cNvSpPr>
            <a:spLocks noGrp="1"/>
          </p:cNvSpPr>
          <p:nvPr>
            <p:ph idx="1"/>
          </p:nvPr>
        </p:nvSpPr>
        <p:spPr>
          <a:xfrm>
            <a:off x="1484310" y="2666999"/>
            <a:ext cx="3318349" cy="3124201"/>
          </a:xfrm>
        </p:spPr>
        <p:txBody>
          <a:bodyPr>
            <a:normAutofit fontScale="92500" lnSpcReduction="10000"/>
          </a:bodyPr>
          <a:lstStyle/>
          <a:p>
            <a:pPr>
              <a:buFont typeface="Wingdings" panose="05000000000000000000" pitchFamily="2" charset="2"/>
              <a:buChar char="Ø"/>
            </a:pPr>
            <a:r>
              <a:rPr lang="en-US" sz="2000" dirty="0"/>
              <a:t> Outliers found mainly in runs and wickets columns.</a:t>
            </a:r>
          </a:p>
          <a:p>
            <a:pPr>
              <a:buFont typeface="Wingdings" panose="05000000000000000000" pitchFamily="2" charset="2"/>
              <a:buChar char="Ø"/>
            </a:pPr>
            <a:r>
              <a:rPr lang="en-US" sz="2000" dirty="0"/>
              <a:t> Used </a:t>
            </a:r>
            <a:r>
              <a:rPr lang="en-US" sz="2000" b="1" dirty="0"/>
              <a:t>IQR Method </a:t>
            </a:r>
            <a:r>
              <a:rPr lang="en-US" sz="2000" dirty="0"/>
              <a:t>(Interquartile Range) to smooth extreme values.</a:t>
            </a:r>
          </a:p>
          <a:p>
            <a:pPr>
              <a:buFont typeface="Wingdings" panose="05000000000000000000" pitchFamily="2" charset="2"/>
              <a:buChar char="Ø"/>
            </a:pPr>
            <a:r>
              <a:rPr lang="en-US" sz="2000" dirty="0"/>
              <a:t> Ensures the model is not affected by unusually high or low match scores.</a:t>
            </a:r>
          </a:p>
          <a:p>
            <a:pPr>
              <a:buFont typeface="Wingdings" panose="05000000000000000000" pitchFamily="2" charset="2"/>
              <a:buChar char="Ø"/>
            </a:pPr>
            <a:r>
              <a:rPr lang="en-US" sz="2000" dirty="0"/>
              <a:t> Makes the training data more stable and reliable.</a:t>
            </a:r>
          </a:p>
        </p:txBody>
      </p:sp>
      <p:pic>
        <p:nvPicPr>
          <p:cNvPr id="5" name="Picture 4" descr="A computer screen shot of code&#10;&#10;AI-generated content may be incorrect.">
            <a:extLst>
              <a:ext uri="{FF2B5EF4-FFF2-40B4-BE49-F238E27FC236}">
                <a16:creationId xmlns:a16="http://schemas.microsoft.com/office/drawing/2014/main" id="{40903629-426F-9E80-EB16-0B980B69B556}"/>
              </a:ext>
            </a:extLst>
          </p:cNvPr>
          <p:cNvPicPr>
            <a:picLocks noChangeAspect="1"/>
          </p:cNvPicPr>
          <p:nvPr/>
        </p:nvPicPr>
        <p:blipFill>
          <a:blip r:embed="rId2"/>
          <a:stretch>
            <a:fillRect/>
          </a:stretch>
        </p:blipFill>
        <p:spPr>
          <a:xfrm>
            <a:off x="4933288" y="2809849"/>
            <a:ext cx="6812398" cy="28384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85800"/>
            <a:ext cx="10018713" cy="1752599"/>
          </a:xfrm>
        </p:spPr>
        <p:txBody>
          <a:bodyPr/>
          <a:lstStyle/>
          <a:p>
            <a:r>
              <a:rPr lang="en-IN" dirty="0"/>
              <a:t>Exploratory Data Analysis (EDA)</a:t>
            </a:r>
            <a:endParaRPr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a:t> Key EDA Steps :</a:t>
            </a:r>
          </a:p>
          <a:p>
            <a:pPr lvl="1">
              <a:buFont typeface="Wingdings" panose="05000000000000000000" pitchFamily="2" charset="2"/>
              <a:buChar char="Ø"/>
            </a:pPr>
            <a:r>
              <a:rPr lang="en-US" dirty="0"/>
              <a:t> Checked missing values</a:t>
            </a:r>
          </a:p>
          <a:p>
            <a:pPr lvl="1">
              <a:buFont typeface="Wingdings" panose="05000000000000000000" pitchFamily="2" charset="2"/>
              <a:buChar char="Ø"/>
            </a:pPr>
            <a:r>
              <a:rPr lang="en-US" sz="2000" dirty="0"/>
              <a:t> Visualized distributions of runs and wickets</a:t>
            </a:r>
            <a:endParaRPr lang="en-US" dirty="0"/>
          </a:p>
          <a:p>
            <a:pPr lvl="1">
              <a:buFont typeface="Wingdings" panose="05000000000000000000" pitchFamily="2" charset="2"/>
              <a:buChar char="Ø"/>
            </a:pPr>
            <a:r>
              <a:rPr lang="en-US" sz="2000" dirty="0"/>
              <a:t> Studied win trends of teams</a:t>
            </a:r>
            <a:endParaRPr lang="en-US" dirty="0"/>
          </a:p>
          <a:p>
            <a:pPr lvl="1">
              <a:buFont typeface="Wingdings" panose="05000000000000000000" pitchFamily="2" charset="2"/>
              <a:buChar char="Ø"/>
            </a:pPr>
            <a:r>
              <a:rPr lang="en-US" sz="2000" dirty="0"/>
              <a:t> Analyzed toss impact on match result</a:t>
            </a:r>
            <a:endParaRPr lang="en-US" dirty="0"/>
          </a:p>
          <a:p>
            <a:pPr lvl="1">
              <a:buFont typeface="Wingdings" panose="05000000000000000000" pitchFamily="2" charset="2"/>
              <a:buChar char="Ø"/>
            </a:pPr>
            <a:r>
              <a:rPr lang="en-US" sz="2000" dirty="0"/>
              <a:t> Examined venue-wise performance</a:t>
            </a:r>
            <a:endParaRPr lang="en-US" dirty="0"/>
          </a:p>
          <a:p>
            <a:pPr lvl="1">
              <a:buFont typeface="Wingdings" panose="05000000000000000000" pitchFamily="2" charset="2"/>
              <a:buChar char="Ø"/>
            </a:pPr>
            <a:r>
              <a:rPr lang="en-US" sz="2000" dirty="0"/>
              <a:t> Created correlation heatmap</a:t>
            </a: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C1E1A7-4F51-5217-CF3B-3A8CA6B1AB90}"/>
              </a:ext>
            </a:extLst>
          </p:cNvPr>
          <p:cNvSpPr>
            <a:spLocks noGrp="1"/>
          </p:cNvSpPr>
          <p:nvPr>
            <p:ph type="title"/>
          </p:nvPr>
        </p:nvSpPr>
        <p:spPr>
          <a:xfrm>
            <a:off x="1086643" y="685800"/>
            <a:ext cx="10018713" cy="1752599"/>
          </a:xfrm>
        </p:spPr>
        <p:txBody>
          <a:bodyPr/>
          <a:lstStyle/>
          <a:p>
            <a:r>
              <a:rPr lang="en-IN" dirty="0"/>
              <a:t>Match Count</a:t>
            </a:r>
          </a:p>
        </p:txBody>
      </p:sp>
      <p:pic>
        <p:nvPicPr>
          <p:cNvPr id="3" name="Picture 2" descr="A screenshot of a computer program&#10;&#10;AI-generated content may be incorrect.">
            <a:extLst>
              <a:ext uri="{FF2B5EF4-FFF2-40B4-BE49-F238E27FC236}">
                <a16:creationId xmlns:a16="http://schemas.microsoft.com/office/drawing/2014/main" id="{6E88F36F-6774-89AF-E53F-3DE7F2E2965D}"/>
              </a:ext>
            </a:extLst>
          </p:cNvPr>
          <p:cNvPicPr>
            <a:picLocks noChangeAspect="1"/>
          </p:cNvPicPr>
          <p:nvPr/>
        </p:nvPicPr>
        <p:blipFill>
          <a:blip r:embed="rId2"/>
          <a:stretch>
            <a:fillRect/>
          </a:stretch>
        </p:blipFill>
        <p:spPr>
          <a:xfrm>
            <a:off x="3728706" y="2165991"/>
            <a:ext cx="4734586" cy="3810532"/>
          </a:xfrm>
          <a:prstGeom prst="rect">
            <a:avLst/>
          </a:prstGeom>
        </p:spPr>
      </p:pic>
    </p:spTree>
    <p:extLst>
      <p:ext uri="{BB962C8B-B14F-4D97-AF65-F5344CB8AC3E}">
        <p14:creationId xmlns:p14="http://schemas.microsoft.com/office/powerpoint/2010/main" val="9064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DACFD-A7ED-5AAC-2667-C9AC0E0587A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FAD95C-EC0C-B79A-DF19-8C5BB6965EA2}"/>
              </a:ext>
            </a:extLst>
          </p:cNvPr>
          <p:cNvSpPr>
            <a:spLocks noGrp="1"/>
          </p:cNvSpPr>
          <p:nvPr>
            <p:ph type="title"/>
          </p:nvPr>
        </p:nvSpPr>
        <p:spPr>
          <a:xfrm>
            <a:off x="1086643" y="685800"/>
            <a:ext cx="10018713" cy="1752599"/>
          </a:xfrm>
        </p:spPr>
        <p:txBody>
          <a:bodyPr/>
          <a:lstStyle/>
          <a:p>
            <a:r>
              <a:rPr lang="en-IN" dirty="0"/>
              <a:t>Match Winner Count</a:t>
            </a:r>
          </a:p>
        </p:txBody>
      </p:sp>
      <p:pic>
        <p:nvPicPr>
          <p:cNvPr id="9" name="Picture 8">
            <a:extLst>
              <a:ext uri="{FF2B5EF4-FFF2-40B4-BE49-F238E27FC236}">
                <a16:creationId xmlns:a16="http://schemas.microsoft.com/office/drawing/2014/main" id="{FF8570D5-4CFC-45DE-AE4D-8ACB894EDF63}"/>
              </a:ext>
            </a:extLst>
          </p:cNvPr>
          <p:cNvPicPr>
            <a:picLocks noChangeAspect="1"/>
          </p:cNvPicPr>
          <p:nvPr/>
        </p:nvPicPr>
        <p:blipFill>
          <a:blip r:embed="rId2"/>
          <a:stretch>
            <a:fillRect/>
          </a:stretch>
        </p:blipFill>
        <p:spPr>
          <a:xfrm>
            <a:off x="1622347" y="2227404"/>
            <a:ext cx="7282167" cy="3650881"/>
          </a:xfrm>
          <a:prstGeom prst="rect">
            <a:avLst/>
          </a:prstGeom>
        </p:spPr>
      </p:pic>
      <p:sp>
        <p:nvSpPr>
          <p:cNvPr id="11" name="TextBox 10">
            <a:extLst>
              <a:ext uri="{FF2B5EF4-FFF2-40B4-BE49-F238E27FC236}">
                <a16:creationId xmlns:a16="http://schemas.microsoft.com/office/drawing/2014/main" id="{12286F61-D236-37EF-9025-15800A5AE46F}"/>
              </a:ext>
            </a:extLst>
          </p:cNvPr>
          <p:cNvSpPr txBox="1"/>
          <p:nvPr/>
        </p:nvSpPr>
        <p:spPr>
          <a:xfrm>
            <a:off x="9012996" y="2711792"/>
            <a:ext cx="3287486" cy="2893100"/>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Some teams consistently appear as top winners (e.g., MI, CSK).</a:t>
            </a:r>
          </a:p>
          <a:p>
            <a:pPr marL="285750" indent="-285750">
              <a:buFont typeface="Wingdings" panose="05000000000000000000" pitchFamily="2" charset="2"/>
              <a:buChar char="Ø"/>
            </a:pPr>
            <a:r>
              <a:rPr lang="en-US" dirty="0"/>
              <a:t>Newer or weaker teams appear lower in the ranking.</a:t>
            </a:r>
          </a:p>
          <a:p>
            <a:pPr marL="285750" indent="-285750">
              <a:buFont typeface="Wingdings" panose="05000000000000000000" pitchFamily="2" charset="2"/>
              <a:buChar char="Ø"/>
            </a:pPr>
            <a:r>
              <a:rPr lang="en-US" dirty="0"/>
              <a:t>This suggests team strength is an important predictive feature.</a:t>
            </a:r>
          </a:p>
          <a:p>
            <a:pPr lvl="1">
              <a:buFont typeface="Wingdings" panose="05000000000000000000" pitchFamily="2" charset="2"/>
              <a:buChar char="Ø"/>
            </a:pPr>
            <a:endParaRPr lang="en-US" sz="2000" dirty="0"/>
          </a:p>
        </p:txBody>
      </p:sp>
    </p:spTree>
    <p:extLst>
      <p:ext uri="{BB962C8B-B14F-4D97-AF65-F5344CB8AC3E}">
        <p14:creationId xmlns:p14="http://schemas.microsoft.com/office/powerpoint/2010/main" val="393755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EE07DB-813C-F814-C2C8-EAAB51CDD4E4}"/>
              </a:ext>
            </a:extLst>
          </p:cNvPr>
          <p:cNvSpPr>
            <a:spLocks noGrp="1"/>
          </p:cNvSpPr>
          <p:nvPr>
            <p:ph type="title"/>
          </p:nvPr>
        </p:nvSpPr>
        <p:spPr>
          <a:xfrm>
            <a:off x="1086643" y="685800"/>
            <a:ext cx="10018713" cy="1752599"/>
          </a:xfrm>
        </p:spPr>
        <p:txBody>
          <a:bodyPr/>
          <a:lstStyle/>
          <a:p>
            <a:r>
              <a:rPr lang="en-US" dirty="0"/>
              <a:t>Toss Decision (Bat or Bowl)</a:t>
            </a:r>
          </a:p>
        </p:txBody>
      </p:sp>
      <p:pic>
        <p:nvPicPr>
          <p:cNvPr id="7" name="Picture 6">
            <a:extLst>
              <a:ext uri="{FF2B5EF4-FFF2-40B4-BE49-F238E27FC236}">
                <a16:creationId xmlns:a16="http://schemas.microsoft.com/office/drawing/2014/main" id="{F0514A9F-A14E-DACC-0AC7-803A72995860}"/>
              </a:ext>
            </a:extLst>
          </p:cNvPr>
          <p:cNvPicPr>
            <a:picLocks noChangeAspect="1"/>
          </p:cNvPicPr>
          <p:nvPr/>
        </p:nvPicPr>
        <p:blipFill>
          <a:blip r:embed="rId2"/>
          <a:stretch>
            <a:fillRect/>
          </a:stretch>
        </p:blipFill>
        <p:spPr>
          <a:xfrm>
            <a:off x="3612027" y="2134225"/>
            <a:ext cx="4967946" cy="4570754"/>
          </a:xfrm>
          <a:prstGeom prst="rect">
            <a:avLst/>
          </a:prstGeom>
        </p:spPr>
      </p:pic>
      <p:sp>
        <p:nvSpPr>
          <p:cNvPr id="8" name="TextBox 7">
            <a:extLst>
              <a:ext uri="{FF2B5EF4-FFF2-40B4-BE49-F238E27FC236}">
                <a16:creationId xmlns:a16="http://schemas.microsoft.com/office/drawing/2014/main" id="{78E841F4-BDF3-C2C1-1596-DE9290769DE0}"/>
              </a:ext>
            </a:extLst>
          </p:cNvPr>
          <p:cNvSpPr txBox="1"/>
          <p:nvPr/>
        </p:nvSpPr>
        <p:spPr>
          <a:xfrm>
            <a:off x="8773510" y="2820650"/>
            <a:ext cx="3287486" cy="2339102"/>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Toss winners choose to bowl first more often (if % of bowl &gt; bat).</a:t>
            </a:r>
          </a:p>
          <a:p>
            <a:pPr marL="285750" indent="-285750">
              <a:buFont typeface="Wingdings" panose="05000000000000000000" pitchFamily="2" charset="2"/>
              <a:buChar char="Ø"/>
            </a:pPr>
            <a:r>
              <a:rPr lang="en-US" dirty="0"/>
              <a:t>Toss decision can influence match outcome</a:t>
            </a:r>
          </a:p>
          <a:p>
            <a:pPr marL="285750" indent="-285750">
              <a:buFont typeface="Wingdings" panose="05000000000000000000" pitchFamily="2" charset="2"/>
              <a:buChar char="Ø"/>
            </a:pPr>
            <a:endParaRPr lang="en-US" dirty="0"/>
          </a:p>
          <a:p>
            <a:pPr lvl="1">
              <a:buFont typeface="Wingdings" panose="05000000000000000000" pitchFamily="2" charset="2"/>
              <a:buChar char="Ø"/>
            </a:pPr>
            <a:endParaRPr lang="en-US" sz="2000" dirty="0"/>
          </a:p>
        </p:txBody>
      </p:sp>
    </p:spTree>
    <p:extLst>
      <p:ext uri="{BB962C8B-B14F-4D97-AF65-F5344CB8AC3E}">
        <p14:creationId xmlns:p14="http://schemas.microsoft.com/office/powerpoint/2010/main" val="255276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0CCD41-CB68-12D7-4670-9702D36F0230}"/>
              </a:ext>
            </a:extLst>
          </p:cNvPr>
          <p:cNvSpPr>
            <a:spLocks noGrp="1"/>
          </p:cNvSpPr>
          <p:nvPr>
            <p:ph type="title"/>
          </p:nvPr>
        </p:nvSpPr>
        <p:spPr>
          <a:xfrm>
            <a:off x="1086643" y="685800"/>
            <a:ext cx="10018713" cy="1752599"/>
          </a:xfrm>
        </p:spPr>
        <p:txBody>
          <a:bodyPr/>
          <a:lstStyle/>
          <a:p>
            <a:r>
              <a:rPr lang="en-US" dirty="0"/>
              <a:t>Winning Team by Venue</a:t>
            </a:r>
          </a:p>
        </p:txBody>
      </p:sp>
      <p:pic>
        <p:nvPicPr>
          <p:cNvPr id="7" name="Picture 6">
            <a:extLst>
              <a:ext uri="{FF2B5EF4-FFF2-40B4-BE49-F238E27FC236}">
                <a16:creationId xmlns:a16="http://schemas.microsoft.com/office/drawing/2014/main" id="{F58241CD-82C3-C183-8B49-02CDB060D376}"/>
              </a:ext>
            </a:extLst>
          </p:cNvPr>
          <p:cNvPicPr>
            <a:picLocks noChangeAspect="1"/>
          </p:cNvPicPr>
          <p:nvPr/>
        </p:nvPicPr>
        <p:blipFill>
          <a:blip r:embed="rId2"/>
          <a:stretch>
            <a:fillRect/>
          </a:stretch>
        </p:blipFill>
        <p:spPr>
          <a:xfrm>
            <a:off x="2585673" y="1981200"/>
            <a:ext cx="6040936" cy="4676088"/>
          </a:xfrm>
          <a:prstGeom prst="rect">
            <a:avLst/>
          </a:prstGeom>
        </p:spPr>
      </p:pic>
      <p:sp>
        <p:nvSpPr>
          <p:cNvPr id="8" name="TextBox 7">
            <a:extLst>
              <a:ext uri="{FF2B5EF4-FFF2-40B4-BE49-F238E27FC236}">
                <a16:creationId xmlns:a16="http://schemas.microsoft.com/office/drawing/2014/main" id="{B86DE952-5130-7AC0-B2C7-D256A88AFC3C}"/>
              </a:ext>
            </a:extLst>
          </p:cNvPr>
          <p:cNvSpPr txBox="1"/>
          <p:nvPr/>
        </p:nvSpPr>
        <p:spPr>
          <a:xfrm>
            <a:off x="8773510" y="2820650"/>
            <a:ext cx="3287486" cy="2862322"/>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Teams perform significantly better at certain venues.</a:t>
            </a:r>
          </a:p>
          <a:p>
            <a:pPr marL="285750" indent="-285750">
              <a:buFont typeface="Wingdings" panose="05000000000000000000" pitchFamily="2" charset="2"/>
              <a:buChar char="Ø"/>
            </a:pPr>
            <a:r>
              <a:rPr lang="en-US" dirty="0"/>
              <a:t>Home-ground advantage is clear for teams like CSK (Chepauk), KKR (Eden Gardens), etc.</a:t>
            </a:r>
          </a:p>
          <a:p>
            <a:pPr marL="285750" indent="-285750">
              <a:buFont typeface="Wingdings" panose="05000000000000000000" pitchFamily="2" charset="2"/>
              <a:buChar char="Ø"/>
            </a:pPr>
            <a:r>
              <a:rPr lang="en-US" dirty="0"/>
              <a:t>Venue is a highly important feature for predicting winners.</a:t>
            </a:r>
          </a:p>
        </p:txBody>
      </p:sp>
    </p:spTree>
    <p:extLst>
      <p:ext uri="{BB962C8B-B14F-4D97-AF65-F5344CB8AC3E}">
        <p14:creationId xmlns:p14="http://schemas.microsoft.com/office/powerpoint/2010/main" val="2506560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11C8F-41CA-5685-9F26-71E105EFE7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B699E0F-8E06-E4A9-EADB-DEAA2D491B86}"/>
              </a:ext>
            </a:extLst>
          </p:cNvPr>
          <p:cNvSpPr>
            <a:spLocks noGrp="1"/>
          </p:cNvSpPr>
          <p:nvPr>
            <p:ph type="title"/>
          </p:nvPr>
        </p:nvSpPr>
        <p:spPr>
          <a:xfrm>
            <a:off x="1086643" y="685800"/>
            <a:ext cx="10018713" cy="1752599"/>
          </a:xfrm>
        </p:spPr>
        <p:txBody>
          <a:bodyPr/>
          <a:lstStyle/>
          <a:p>
            <a:r>
              <a:rPr lang="en-US" dirty="0"/>
              <a:t>Number of Matches Played Per Venue</a:t>
            </a:r>
          </a:p>
        </p:txBody>
      </p:sp>
      <p:sp>
        <p:nvSpPr>
          <p:cNvPr id="8" name="TextBox 7">
            <a:extLst>
              <a:ext uri="{FF2B5EF4-FFF2-40B4-BE49-F238E27FC236}">
                <a16:creationId xmlns:a16="http://schemas.microsoft.com/office/drawing/2014/main" id="{73159D73-ABD6-770C-5D5D-53E4F31F0351}"/>
              </a:ext>
            </a:extLst>
          </p:cNvPr>
          <p:cNvSpPr txBox="1"/>
          <p:nvPr/>
        </p:nvSpPr>
        <p:spPr>
          <a:xfrm>
            <a:off x="8098595" y="2296203"/>
            <a:ext cx="3832147" cy="3693319"/>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Wankhede, </a:t>
            </a:r>
            <a:r>
              <a:rPr lang="en-US" dirty="0" err="1"/>
              <a:t>Chinnaswamy</a:t>
            </a:r>
            <a:r>
              <a:rPr lang="en-US" dirty="0"/>
              <a:t>, Eden Gardens, and Chepauk host the most matches, showing IPL’s heavy reliance on major home venues.</a:t>
            </a:r>
          </a:p>
          <a:p>
            <a:pPr marL="285750" indent="-285750">
              <a:buFont typeface="Wingdings" panose="05000000000000000000" pitchFamily="2" charset="2"/>
              <a:buChar char="Ø"/>
            </a:pPr>
            <a:r>
              <a:rPr lang="en-US" dirty="0"/>
              <a:t>Match distribution is highly uneven, with a few stadiums hosting most games while many venues are used only occasionally.</a:t>
            </a:r>
          </a:p>
          <a:p>
            <a:pPr marL="285750" indent="-285750">
              <a:buFont typeface="Wingdings" panose="05000000000000000000" pitchFamily="2" charset="2"/>
              <a:buChar char="Ø"/>
            </a:pPr>
            <a:r>
              <a:rPr lang="en-US" dirty="0"/>
              <a:t>Overseas venues like Dubai, Abu Dhabi, and Sharjah appear due to COVID-era seasons, not regular IPL scheduling.</a:t>
            </a:r>
          </a:p>
        </p:txBody>
      </p:sp>
      <p:pic>
        <p:nvPicPr>
          <p:cNvPr id="3" name="Picture 2" descr="A graph of different colored bars&#10;&#10;AI-generated content may be incorrect.">
            <a:extLst>
              <a:ext uri="{FF2B5EF4-FFF2-40B4-BE49-F238E27FC236}">
                <a16:creationId xmlns:a16="http://schemas.microsoft.com/office/drawing/2014/main" id="{D5170F36-0A03-4841-9571-35F76B5FD79B}"/>
              </a:ext>
            </a:extLst>
          </p:cNvPr>
          <p:cNvPicPr>
            <a:picLocks noChangeAspect="1"/>
          </p:cNvPicPr>
          <p:nvPr/>
        </p:nvPicPr>
        <p:blipFill>
          <a:blip r:embed="rId2"/>
          <a:stretch>
            <a:fillRect/>
          </a:stretch>
        </p:blipFill>
        <p:spPr>
          <a:xfrm>
            <a:off x="1825708" y="2113527"/>
            <a:ext cx="6120863" cy="4058673"/>
          </a:xfrm>
          <a:prstGeom prst="rect">
            <a:avLst/>
          </a:prstGeom>
        </p:spPr>
      </p:pic>
    </p:spTree>
    <p:extLst>
      <p:ext uri="{BB962C8B-B14F-4D97-AF65-F5344CB8AC3E}">
        <p14:creationId xmlns:p14="http://schemas.microsoft.com/office/powerpoint/2010/main" val="1164149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FB994B-D95D-AC91-79B3-D7EAF31CACC4}"/>
              </a:ext>
            </a:extLst>
          </p:cNvPr>
          <p:cNvSpPr>
            <a:spLocks noGrp="1"/>
          </p:cNvSpPr>
          <p:nvPr>
            <p:ph type="title"/>
          </p:nvPr>
        </p:nvSpPr>
        <p:spPr>
          <a:xfrm>
            <a:off x="1086643" y="685800"/>
            <a:ext cx="10018713" cy="1752599"/>
          </a:xfrm>
        </p:spPr>
        <p:txBody>
          <a:bodyPr/>
          <a:lstStyle/>
          <a:p>
            <a:r>
              <a:rPr lang="en-IN" dirty="0"/>
              <a:t>Season-wise Matches Played</a:t>
            </a:r>
          </a:p>
        </p:txBody>
      </p:sp>
      <p:pic>
        <p:nvPicPr>
          <p:cNvPr id="9" name="Picture 8">
            <a:extLst>
              <a:ext uri="{FF2B5EF4-FFF2-40B4-BE49-F238E27FC236}">
                <a16:creationId xmlns:a16="http://schemas.microsoft.com/office/drawing/2014/main" id="{0DA1B648-F63B-9A78-A427-9E323AF99165}"/>
              </a:ext>
            </a:extLst>
          </p:cNvPr>
          <p:cNvPicPr>
            <a:picLocks noChangeAspect="1"/>
          </p:cNvPicPr>
          <p:nvPr/>
        </p:nvPicPr>
        <p:blipFill>
          <a:blip r:embed="rId2"/>
          <a:stretch>
            <a:fillRect/>
          </a:stretch>
        </p:blipFill>
        <p:spPr>
          <a:xfrm>
            <a:off x="1538781" y="1967713"/>
            <a:ext cx="7234729" cy="4411316"/>
          </a:xfrm>
          <a:prstGeom prst="rect">
            <a:avLst/>
          </a:prstGeom>
        </p:spPr>
      </p:pic>
      <p:sp>
        <p:nvSpPr>
          <p:cNvPr id="10" name="TextBox 9">
            <a:extLst>
              <a:ext uri="{FF2B5EF4-FFF2-40B4-BE49-F238E27FC236}">
                <a16:creationId xmlns:a16="http://schemas.microsoft.com/office/drawing/2014/main" id="{DC5CFCC6-571A-E9DA-72FF-D255ED896D47}"/>
              </a:ext>
            </a:extLst>
          </p:cNvPr>
          <p:cNvSpPr txBox="1"/>
          <p:nvPr/>
        </p:nvSpPr>
        <p:spPr>
          <a:xfrm>
            <a:off x="8904514" y="2820650"/>
            <a:ext cx="3287486" cy="3139321"/>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Number of matches increases in some seasons (expansion teams).</a:t>
            </a:r>
          </a:p>
          <a:p>
            <a:pPr marL="285750" indent="-285750">
              <a:buFont typeface="Wingdings" panose="05000000000000000000" pitchFamily="2" charset="2"/>
              <a:buChar char="Ø"/>
            </a:pPr>
            <a:r>
              <a:rPr lang="en-US" dirty="0"/>
              <a:t>COVID-affected seasons show decreased match count.</a:t>
            </a:r>
          </a:p>
          <a:p>
            <a:pPr marL="285750" indent="-285750">
              <a:buFont typeface="Wingdings" panose="05000000000000000000" pitchFamily="2" charset="2"/>
              <a:buChar char="Ø"/>
            </a:pPr>
            <a:r>
              <a:rPr lang="en-US" dirty="0"/>
              <a:t>Helps understand data distribution across seasons.</a:t>
            </a:r>
          </a:p>
          <a:p>
            <a:pPr marL="285750" indent="-285750">
              <a:buFont typeface="Wingdings" panose="05000000000000000000" pitchFamily="2" charset="2"/>
              <a:buChar char="Ø"/>
            </a:pPr>
            <a:r>
              <a:rPr lang="en-US" dirty="0"/>
              <a:t>Shows IPL growth over time → more data available for recent seasons.</a:t>
            </a:r>
          </a:p>
        </p:txBody>
      </p:sp>
    </p:spTree>
    <p:extLst>
      <p:ext uri="{BB962C8B-B14F-4D97-AF65-F5344CB8AC3E}">
        <p14:creationId xmlns:p14="http://schemas.microsoft.com/office/powerpoint/2010/main" val="3610209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58F99A-E12B-F7C6-819C-FDDE3062DCC9}"/>
              </a:ext>
            </a:extLst>
          </p:cNvPr>
          <p:cNvSpPr>
            <a:spLocks noGrp="1"/>
          </p:cNvSpPr>
          <p:nvPr>
            <p:ph type="title"/>
          </p:nvPr>
        </p:nvSpPr>
        <p:spPr>
          <a:xfrm>
            <a:off x="1086643" y="685800"/>
            <a:ext cx="10018713" cy="1752599"/>
          </a:xfrm>
        </p:spPr>
        <p:txBody>
          <a:bodyPr/>
          <a:lstStyle/>
          <a:p>
            <a:r>
              <a:rPr lang="en-US" dirty="0"/>
              <a:t>Top 10 Captains With Most Wins</a:t>
            </a:r>
          </a:p>
        </p:txBody>
      </p:sp>
      <p:pic>
        <p:nvPicPr>
          <p:cNvPr id="7" name="Picture 6">
            <a:extLst>
              <a:ext uri="{FF2B5EF4-FFF2-40B4-BE49-F238E27FC236}">
                <a16:creationId xmlns:a16="http://schemas.microsoft.com/office/drawing/2014/main" id="{903BFB8E-B869-5D74-8209-D2E70ED70123}"/>
              </a:ext>
            </a:extLst>
          </p:cNvPr>
          <p:cNvPicPr>
            <a:picLocks noChangeAspect="1"/>
          </p:cNvPicPr>
          <p:nvPr/>
        </p:nvPicPr>
        <p:blipFill>
          <a:blip r:embed="rId2"/>
          <a:stretch>
            <a:fillRect/>
          </a:stretch>
        </p:blipFill>
        <p:spPr>
          <a:xfrm>
            <a:off x="1762258" y="2211943"/>
            <a:ext cx="7142256" cy="3742543"/>
          </a:xfrm>
          <a:prstGeom prst="rect">
            <a:avLst/>
          </a:prstGeom>
        </p:spPr>
      </p:pic>
      <p:sp>
        <p:nvSpPr>
          <p:cNvPr id="8" name="TextBox 7">
            <a:extLst>
              <a:ext uri="{FF2B5EF4-FFF2-40B4-BE49-F238E27FC236}">
                <a16:creationId xmlns:a16="http://schemas.microsoft.com/office/drawing/2014/main" id="{392446F1-2B80-51D6-717E-A347F15CACC8}"/>
              </a:ext>
            </a:extLst>
          </p:cNvPr>
          <p:cNvSpPr txBox="1"/>
          <p:nvPr/>
        </p:nvSpPr>
        <p:spPr>
          <a:xfrm>
            <a:off x="8904514" y="2820650"/>
            <a:ext cx="3287486" cy="2585323"/>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Some captains appear consistently for many seasons (Rohit, Dhoni, Kohli).</a:t>
            </a:r>
          </a:p>
          <a:p>
            <a:pPr marL="285750" indent="-285750">
              <a:buFont typeface="Wingdings" panose="05000000000000000000" pitchFamily="2" charset="2"/>
              <a:buChar char="Ø"/>
            </a:pPr>
            <a:r>
              <a:rPr lang="en-US" dirty="0"/>
              <a:t>Leadership stability correlates with team success.</a:t>
            </a:r>
          </a:p>
          <a:p>
            <a:pPr marL="285750" indent="-285750">
              <a:buFont typeface="Wingdings" panose="05000000000000000000" pitchFamily="2" charset="2"/>
              <a:buChar char="Ø"/>
            </a:pPr>
            <a:r>
              <a:rPr lang="en-US" dirty="0"/>
              <a:t>Captaincy experience might indirectly influence match outcome.</a:t>
            </a:r>
          </a:p>
        </p:txBody>
      </p:sp>
    </p:spTree>
    <p:extLst>
      <p:ext uri="{BB962C8B-B14F-4D97-AF65-F5344CB8AC3E}">
        <p14:creationId xmlns:p14="http://schemas.microsoft.com/office/powerpoint/2010/main" val="104315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BF2EC5-7255-A452-EEAE-033505204868}"/>
              </a:ext>
            </a:extLst>
          </p:cNvPr>
          <p:cNvSpPr>
            <a:spLocks noGrp="1"/>
          </p:cNvSpPr>
          <p:nvPr>
            <p:ph type="title"/>
          </p:nvPr>
        </p:nvSpPr>
        <p:spPr>
          <a:xfrm>
            <a:off x="1086643" y="685800"/>
            <a:ext cx="10018713" cy="1752599"/>
          </a:xfrm>
        </p:spPr>
        <p:txBody>
          <a:bodyPr/>
          <a:lstStyle/>
          <a:p>
            <a:r>
              <a:rPr lang="en-US" dirty="0"/>
              <a:t>Toss vs Match Winner (Does Toss Matter?)</a:t>
            </a:r>
          </a:p>
        </p:txBody>
      </p:sp>
      <p:pic>
        <p:nvPicPr>
          <p:cNvPr id="7" name="Picture 6">
            <a:extLst>
              <a:ext uri="{FF2B5EF4-FFF2-40B4-BE49-F238E27FC236}">
                <a16:creationId xmlns:a16="http://schemas.microsoft.com/office/drawing/2014/main" id="{793A8FB8-8AEE-ECD1-89DF-BEDF80C4661F}"/>
              </a:ext>
            </a:extLst>
          </p:cNvPr>
          <p:cNvPicPr>
            <a:picLocks noChangeAspect="1"/>
          </p:cNvPicPr>
          <p:nvPr/>
        </p:nvPicPr>
        <p:blipFill>
          <a:blip r:embed="rId2"/>
          <a:stretch>
            <a:fillRect/>
          </a:stretch>
        </p:blipFill>
        <p:spPr>
          <a:xfrm>
            <a:off x="3976134" y="2234956"/>
            <a:ext cx="4239732" cy="4273969"/>
          </a:xfrm>
          <a:prstGeom prst="rect">
            <a:avLst/>
          </a:prstGeom>
        </p:spPr>
      </p:pic>
      <p:sp>
        <p:nvSpPr>
          <p:cNvPr id="8" name="TextBox 7">
            <a:extLst>
              <a:ext uri="{FF2B5EF4-FFF2-40B4-BE49-F238E27FC236}">
                <a16:creationId xmlns:a16="http://schemas.microsoft.com/office/drawing/2014/main" id="{FA7662AA-EEF2-791B-EC80-591CE9011D38}"/>
              </a:ext>
            </a:extLst>
          </p:cNvPr>
          <p:cNvSpPr txBox="1"/>
          <p:nvPr/>
        </p:nvSpPr>
        <p:spPr>
          <a:xfrm>
            <a:off x="8632371" y="2820650"/>
            <a:ext cx="3287486" cy="2585323"/>
          </a:xfrm>
          <a:prstGeom prst="rect">
            <a:avLst/>
          </a:prstGeom>
          <a:noFill/>
        </p:spPr>
        <p:txBody>
          <a:bodyPr wrap="square">
            <a:spAutoFit/>
          </a:bodyPr>
          <a:lstStyle/>
          <a:p>
            <a:pPr marL="285750" indent="-285750">
              <a:buFont typeface="Wingdings" panose="05000000000000000000" pitchFamily="2" charset="2"/>
              <a:buChar char="v"/>
            </a:pPr>
            <a:r>
              <a:rPr lang="en-US" dirty="0"/>
              <a:t>Insights :</a:t>
            </a:r>
          </a:p>
          <a:p>
            <a:pPr marL="285750" indent="-285750">
              <a:buFont typeface="Wingdings" panose="05000000000000000000" pitchFamily="2" charset="2"/>
              <a:buChar char="Ø"/>
            </a:pPr>
            <a:r>
              <a:rPr lang="en-US" dirty="0"/>
              <a:t>If &gt;50% → Winning toss increases chances of winning the match.</a:t>
            </a:r>
          </a:p>
          <a:p>
            <a:pPr marL="285750" indent="-285750">
              <a:buFont typeface="Wingdings" panose="05000000000000000000" pitchFamily="2" charset="2"/>
              <a:buChar char="Ø"/>
            </a:pPr>
            <a:r>
              <a:rPr lang="en-US" dirty="0"/>
              <a:t>If &lt;50% → Toss doesn’t guarantee match success.</a:t>
            </a:r>
          </a:p>
          <a:p>
            <a:pPr marL="285750" indent="-285750">
              <a:buFont typeface="Wingdings" panose="05000000000000000000" pitchFamily="2" charset="2"/>
              <a:buChar char="Ø"/>
            </a:pPr>
            <a:r>
              <a:rPr lang="en-US" dirty="0"/>
              <a:t>Shows that </a:t>
            </a:r>
            <a:r>
              <a:rPr lang="en-US" dirty="0" err="1"/>
              <a:t>toss_won</a:t>
            </a:r>
            <a:r>
              <a:rPr lang="en-US" dirty="0"/>
              <a:t> is a useful feature but not dominant.</a:t>
            </a:r>
          </a:p>
        </p:txBody>
      </p:sp>
    </p:spTree>
    <p:extLst>
      <p:ext uri="{BB962C8B-B14F-4D97-AF65-F5344CB8AC3E}">
        <p14:creationId xmlns:p14="http://schemas.microsoft.com/office/powerpoint/2010/main" val="783713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8A4559-30B3-6A2B-7EDC-DC1BA7876388}"/>
              </a:ext>
            </a:extLst>
          </p:cNvPr>
          <p:cNvSpPr>
            <a:spLocks noGrp="1"/>
          </p:cNvSpPr>
          <p:nvPr>
            <p:ph type="title"/>
          </p:nvPr>
        </p:nvSpPr>
        <p:spPr>
          <a:xfrm>
            <a:off x="1086643" y="729342"/>
            <a:ext cx="10018713" cy="1752599"/>
          </a:xfrm>
        </p:spPr>
        <p:txBody>
          <a:bodyPr/>
          <a:lstStyle/>
          <a:p>
            <a:r>
              <a:rPr lang="en-IN" dirty="0"/>
              <a:t>Key Insights From EDA</a:t>
            </a:r>
            <a:endParaRPr dirty="0"/>
          </a:p>
        </p:txBody>
      </p:sp>
      <p:sp>
        <p:nvSpPr>
          <p:cNvPr id="5" name="Content Placeholder 2">
            <a:extLst>
              <a:ext uri="{FF2B5EF4-FFF2-40B4-BE49-F238E27FC236}">
                <a16:creationId xmlns:a16="http://schemas.microsoft.com/office/drawing/2014/main" id="{961AAE43-7CF5-2C41-EC91-FF9BFF336733}"/>
              </a:ext>
            </a:extLst>
          </p:cNvPr>
          <p:cNvSpPr>
            <a:spLocks noGrp="1"/>
          </p:cNvSpPr>
          <p:nvPr>
            <p:ph idx="1"/>
          </p:nvPr>
        </p:nvSpPr>
        <p:spPr>
          <a:xfrm>
            <a:off x="1484310" y="2666999"/>
            <a:ext cx="10018713" cy="3124201"/>
          </a:xfrm>
        </p:spPr>
        <p:txBody>
          <a:bodyPr>
            <a:normAutofit/>
          </a:bodyPr>
          <a:lstStyle/>
          <a:p>
            <a:pPr>
              <a:buFont typeface="Wingdings" panose="05000000000000000000" pitchFamily="2" charset="2"/>
              <a:buChar char="Ø"/>
            </a:pPr>
            <a:r>
              <a:rPr lang="en-US" sz="2000" dirty="0"/>
              <a:t> Certain teams (MI, CSK) dominate wins → team strength matters</a:t>
            </a:r>
          </a:p>
          <a:p>
            <a:pPr>
              <a:buFont typeface="Wingdings" panose="05000000000000000000" pitchFamily="2" charset="2"/>
              <a:buChar char="Ø"/>
            </a:pPr>
            <a:r>
              <a:rPr lang="en-US" sz="2000" dirty="0"/>
              <a:t> Winning toss gives a small advantage (~52%)</a:t>
            </a:r>
          </a:p>
          <a:p>
            <a:pPr>
              <a:buFont typeface="Wingdings" panose="05000000000000000000" pitchFamily="2" charset="2"/>
              <a:buChar char="Ø"/>
            </a:pPr>
            <a:r>
              <a:rPr lang="en-US" sz="2000" dirty="0"/>
              <a:t> Bowling first is more preferred in T20</a:t>
            </a:r>
          </a:p>
          <a:p>
            <a:pPr>
              <a:buFont typeface="Wingdings" panose="05000000000000000000" pitchFamily="2" charset="2"/>
              <a:buChar char="Ø"/>
            </a:pPr>
            <a:r>
              <a:rPr lang="en-US" sz="2000" dirty="0"/>
              <a:t> Venue strongly affects match outcomes</a:t>
            </a:r>
          </a:p>
          <a:p>
            <a:pPr>
              <a:buFont typeface="Wingdings" panose="05000000000000000000" pitchFamily="2" charset="2"/>
              <a:buChar char="Ø"/>
            </a:pPr>
            <a:r>
              <a:rPr lang="en-US" sz="2000" dirty="0"/>
              <a:t> Average score range: 150–180 runs</a:t>
            </a:r>
          </a:p>
        </p:txBody>
      </p:sp>
    </p:spTree>
    <p:extLst>
      <p:ext uri="{BB962C8B-B14F-4D97-AF65-F5344CB8AC3E}">
        <p14:creationId xmlns:p14="http://schemas.microsoft.com/office/powerpoint/2010/main" val="2125397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85800"/>
            <a:ext cx="10018713" cy="1752599"/>
          </a:xfrm>
        </p:spPr>
        <p:txBody>
          <a:bodyPr/>
          <a:lstStyle/>
          <a:p>
            <a:r>
              <a:rPr lang="en-IN" dirty="0"/>
              <a:t>ML Model Selection</a:t>
            </a:r>
            <a:endParaRPr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fr-FR" b="1" dirty="0"/>
              <a:t> Chosen Algorithm</a:t>
            </a:r>
            <a:r>
              <a:rPr lang="fr-FR" dirty="0"/>
              <a:t> : Random Forest Classifier</a:t>
            </a:r>
          </a:p>
          <a:p>
            <a:pPr marL="457200" lvl="1" indent="0">
              <a:buNone/>
            </a:pPr>
            <a:r>
              <a:rPr lang="en-US" b="1" dirty="0"/>
              <a:t>Reason :</a:t>
            </a:r>
          </a:p>
          <a:p>
            <a:pPr lvl="2">
              <a:buFont typeface="Wingdings" panose="05000000000000000000" pitchFamily="2" charset="2"/>
              <a:buChar char="Ø"/>
            </a:pPr>
            <a:r>
              <a:rPr lang="en-US" dirty="0"/>
              <a:t>Works well with mixed data (categorical + numeric)</a:t>
            </a:r>
          </a:p>
          <a:p>
            <a:pPr lvl="2">
              <a:buFont typeface="Wingdings" panose="05000000000000000000" pitchFamily="2" charset="2"/>
              <a:buChar char="Ø"/>
            </a:pPr>
            <a:r>
              <a:rPr lang="en-US" dirty="0"/>
              <a:t>Handles non-linearity</a:t>
            </a:r>
          </a:p>
          <a:p>
            <a:pPr lvl="2">
              <a:buFont typeface="Wingdings" panose="05000000000000000000" pitchFamily="2" charset="2"/>
              <a:buChar char="Ø"/>
            </a:pPr>
            <a:r>
              <a:rPr lang="en-US" dirty="0"/>
              <a:t>Less overfitting than Decision Tree</a:t>
            </a:r>
          </a:p>
          <a:p>
            <a:pPr lvl="2">
              <a:buFont typeface="Wingdings" panose="05000000000000000000" pitchFamily="2" charset="2"/>
              <a:buChar char="Ø"/>
            </a:pPr>
            <a:r>
              <a:rPr lang="en-US" dirty="0"/>
              <a:t>Better accuracy than Logistic Regression</a:t>
            </a:r>
          </a:p>
          <a:p>
            <a:pPr lvl="2">
              <a:buFont typeface="Wingdings" panose="05000000000000000000" pitchFamily="2" charset="2"/>
              <a:buChar char="Ø"/>
            </a:pPr>
            <a:r>
              <a:rPr lang="en-US" dirty="0"/>
              <a:t>Very reliable for classification tasks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85800"/>
            <a:ext cx="10018713" cy="1752599"/>
          </a:xfrm>
        </p:spPr>
        <p:txBody>
          <a:bodyPr/>
          <a:lstStyle/>
          <a:p>
            <a:r>
              <a:rPr dirty="0"/>
              <a:t>Model Building</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 </a:t>
            </a:r>
            <a:r>
              <a:rPr dirty="0"/>
              <a:t>Used Random Forest Classifier.</a:t>
            </a:r>
          </a:p>
          <a:p>
            <a:pPr lvl="1">
              <a:buFont typeface="Wingdings" panose="05000000000000000000" pitchFamily="2" charset="2"/>
              <a:buChar char="Ø"/>
            </a:pPr>
            <a:r>
              <a:rPr lang="en-US" dirty="0"/>
              <a:t> </a:t>
            </a:r>
            <a:r>
              <a:rPr dirty="0"/>
              <a:t>Encoded categorical values with </a:t>
            </a:r>
            <a:r>
              <a:rPr dirty="0" err="1"/>
              <a:t>LabelEncoder</a:t>
            </a:r>
            <a:r>
              <a:rPr dirty="0"/>
              <a:t>.</a:t>
            </a:r>
            <a:endParaRPr lang="en-US" dirty="0"/>
          </a:p>
          <a:p>
            <a:pPr lvl="1">
              <a:buFont typeface="Wingdings" panose="05000000000000000000" pitchFamily="2" charset="2"/>
              <a:buChar char="Ø"/>
            </a:pPr>
            <a:r>
              <a:rPr lang="en-IN" dirty="0"/>
              <a:t> </a:t>
            </a:r>
            <a:r>
              <a:rPr dirty="0"/>
              <a:t>Train-test split 80/20.</a:t>
            </a:r>
            <a:endParaRPr lang="en-US" dirty="0"/>
          </a:p>
          <a:p>
            <a:pPr lvl="1">
              <a:buFont typeface="Wingdings" panose="05000000000000000000" pitchFamily="2" charset="2"/>
              <a:buChar char="Ø"/>
            </a:pPr>
            <a:r>
              <a:rPr lang="en-IN" dirty="0"/>
              <a:t> </a:t>
            </a:r>
            <a:r>
              <a:rPr dirty="0"/>
              <a:t>Model learns patterns from historical IPL data.</a:t>
            </a:r>
            <a:r>
              <a:rPr lang="en-US" dirty="0"/>
              <a:t>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43" y="696685"/>
            <a:ext cx="10018713" cy="1752599"/>
          </a:xfrm>
        </p:spPr>
        <p:txBody>
          <a:bodyPr/>
          <a:lstStyle/>
          <a:p>
            <a:r>
              <a:rPr lang="en-IN" dirty="0"/>
              <a:t>Train-Test Split</a:t>
            </a:r>
            <a:endParaRPr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dirty="0"/>
              <a:t> 80% Training data</a:t>
            </a:r>
          </a:p>
          <a:p>
            <a:pPr>
              <a:buFont typeface="Wingdings" panose="05000000000000000000" pitchFamily="2" charset="2"/>
              <a:buChar char="Ø"/>
            </a:pPr>
            <a:r>
              <a:rPr lang="en-US" sz="2000" dirty="0"/>
              <a:t> 20% Testing data</a:t>
            </a:r>
          </a:p>
          <a:p>
            <a:pPr>
              <a:buFont typeface="Wingdings" panose="05000000000000000000" pitchFamily="2" charset="2"/>
              <a:buChar char="Ø"/>
            </a:pPr>
            <a:r>
              <a:rPr lang="en-US" sz="2000" dirty="0"/>
              <a:t> Stratified split used → keeps class balance</a:t>
            </a:r>
          </a:p>
          <a:p>
            <a:pPr>
              <a:buFont typeface="Wingdings" panose="05000000000000000000" pitchFamily="2" charset="2"/>
              <a:buChar char="Ø"/>
            </a:pPr>
            <a:r>
              <a:rPr lang="en-US" sz="2000" dirty="0"/>
              <a:t> Ensures model generalizes well</a:t>
            </a:r>
          </a:p>
          <a:p>
            <a:pPr>
              <a:buFont typeface="Wingdings" panose="05000000000000000000" pitchFamily="2" charset="2"/>
              <a:buChar char="Ø"/>
            </a:pPr>
            <a:r>
              <a:rPr lang="en-US" sz="2000" dirty="0"/>
              <a:t> Prevents biased training</a:t>
            </a:r>
            <a:endParaRP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548A38B-A6C4-997C-4375-EFE1F4FCD3B5}"/>
              </a:ext>
            </a:extLst>
          </p:cNvPr>
          <p:cNvSpPr>
            <a:spLocks noGrp="1"/>
          </p:cNvSpPr>
          <p:nvPr>
            <p:ph type="title"/>
          </p:nvPr>
        </p:nvSpPr>
        <p:spPr>
          <a:xfrm>
            <a:off x="1086643" y="685800"/>
            <a:ext cx="10018713" cy="1752599"/>
          </a:xfrm>
        </p:spPr>
        <p:txBody>
          <a:bodyPr/>
          <a:lstStyle/>
          <a:p>
            <a:r>
              <a:rPr lang="en-IN" dirty="0"/>
              <a:t>Model Performance</a:t>
            </a:r>
            <a:endParaRPr dirty="0"/>
          </a:p>
        </p:txBody>
      </p:sp>
      <p:sp>
        <p:nvSpPr>
          <p:cNvPr id="9" name="Content Placeholder 2">
            <a:extLst>
              <a:ext uri="{FF2B5EF4-FFF2-40B4-BE49-F238E27FC236}">
                <a16:creationId xmlns:a16="http://schemas.microsoft.com/office/drawing/2014/main" id="{AC36A7F2-6A4D-CAE3-37B0-12A277525809}"/>
              </a:ext>
            </a:extLst>
          </p:cNvPr>
          <p:cNvSpPr>
            <a:spLocks noGrp="1"/>
          </p:cNvSpPr>
          <p:nvPr>
            <p:ph idx="1"/>
          </p:nvPr>
        </p:nvSpPr>
        <p:spPr>
          <a:xfrm>
            <a:off x="1484310" y="2666999"/>
            <a:ext cx="10018713" cy="3124201"/>
          </a:xfrm>
        </p:spPr>
        <p:txBody>
          <a:bodyPr>
            <a:normAutofit lnSpcReduction="10000"/>
          </a:bodyPr>
          <a:lstStyle/>
          <a:p>
            <a:pPr>
              <a:buFont typeface="Wingdings" panose="05000000000000000000" pitchFamily="2" charset="2"/>
              <a:buChar char="v"/>
            </a:pPr>
            <a:r>
              <a:rPr lang="en-US" sz="2800" dirty="0"/>
              <a:t> </a:t>
            </a:r>
            <a:r>
              <a:rPr lang="en-US" sz="2800" b="1" dirty="0"/>
              <a:t>Metrics Obtained:</a:t>
            </a:r>
          </a:p>
          <a:p>
            <a:pPr lvl="1">
              <a:buFont typeface="Wingdings" panose="05000000000000000000" pitchFamily="2" charset="2"/>
              <a:buChar char="Ø"/>
            </a:pPr>
            <a:r>
              <a:rPr lang="en-US" b="1" dirty="0"/>
              <a:t>Accuracy : </a:t>
            </a:r>
            <a:r>
              <a:rPr lang="en-IN" dirty="0"/>
              <a:t>0.7038834951456311</a:t>
            </a:r>
          </a:p>
          <a:p>
            <a:pPr lvl="1">
              <a:buFont typeface="Wingdings" panose="05000000000000000000" pitchFamily="2" charset="2"/>
              <a:buChar char="Ø"/>
            </a:pPr>
            <a:r>
              <a:rPr lang="en-US" b="1" dirty="0"/>
              <a:t>Confusion Matrix : </a:t>
            </a:r>
            <a:r>
              <a:rPr lang="en-US" dirty="0"/>
              <a:t>Shows correct vs incorrect predictions</a:t>
            </a:r>
          </a:p>
          <a:p>
            <a:pPr lvl="1">
              <a:buFont typeface="Wingdings" panose="05000000000000000000" pitchFamily="2" charset="2"/>
              <a:buChar char="Ø"/>
            </a:pPr>
            <a:r>
              <a:rPr lang="en-US" b="1" dirty="0"/>
              <a:t>Classification Report:</a:t>
            </a:r>
          </a:p>
          <a:p>
            <a:pPr lvl="2">
              <a:buFont typeface="Wingdings" panose="05000000000000000000" pitchFamily="2" charset="2"/>
              <a:buChar char="§"/>
            </a:pPr>
            <a:r>
              <a:rPr lang="en-US" sz="2000" dirty="0"/>
              <a:t>Precision</a:t>
            </a:r>
          </a:p>
          <a:p>
            <a:pPr lvl="2">
              <a:buFont typeface="Wingdings" panose="05000000000000000000" pitchFamily="2" charset="2"/>
              <a:buChar char="§"/>
            </a:pPr>
            <a:r>
              <a:rPr lang="en-US" sz="2000" dirty="0"/>
              <a:t>Recall</a:t>
            </a:r>
          </a:p>
          <a:p>
            <a:pPr lvl="2">
              <a:buFont typeface="Wingdings" panose="05000000000000000000" pitchFamily="2" charset="2"/>
              <a:buChar char="§"/>
            </a:pPr>
            <a:r>
              <a:rPr lang="en-US" sz="2000" dirty="0"/>
              <a:t>F1-score</a:t>
            </a:r>
          </a:p>
        </p:txBody>
      </p:sp>
    </p:spTree>
    <p:extLst>
      <p:ext uri="{BB962C8B-B14F-4D97-AF65-F5344CB8AC3E}">
        <p14:creationId xmlns:p14="http://schemas.microsoft.com/office/powerpoint/2010/main" val="1336331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39981B-D478-4ADC-E30E-C6375BFDB866}"/>
              </a:ext>
            </a:extLst>
          </p:cNvPr>
          <p:cNvSpPr>
            <a:spLocks noGrp="1"/>
          </p:cNvSpPr>
          <p:nvPr>
            <p:ph type="title"/>
          </p:nvPr>
        </p:nvSpPr>
        <p:spPr>
          <a:xfrm>
            <a:off x="1086643" y="685800"/>
            <a:ext cx="10018713" cy="1752599"/>
          </a:xfrm>
        </p:spPr>
        <p:txBody>
          <a:bodyPr/>
          <a:lstStyle/>
          <a:p>
            <a:r>
              <a:rPr lang="en-IN" dirty="0"/>
              <a:t>Winner Prediction Function</a:t>
            </a:r>
            <a:endParaRPr dirty="0"/>
          </a:p>
        </p:txBody>
      </p:sp>
      <p:sp>
        <p:nvSpPr>
          <p:cNvPr id="5" name="Content Placeholder 2">
            <a:extLst>
              <a:ext uri="{FF2B5EF4-FFF2-40B4-BE49-F238E27FC236}">
                <a16:creationId xmlns:a16="http://schemas.microsoft.com/office/drawing/2014/main" id="{D118B91D-AFFD-BBBF-B42D-25030E247632}"/>
              </a:ext>
            </a:extLst>
          </p:cNvPr>
          <p:cNvSpPr>
            <a:spLocks noGrp="1"/>
          </p:cNvSpPr>
          <p:nvPr>
            <p:ph idx="1"/>
          </p:nvPr>
        </p:nvSpPr>
        <p:spPr>
          <a:xfrm>
            <a:off x="1484310" y="2666999"/>
            <a:ext cx="10018713" cy="3124201"/>
          </a:xfrm>
        </p:spPr>
        <p:txBody>
          <a:bodyPr>
            <a:noAutofit/>
          </a:bodyPr>
          <a:lstStyle/>
          <a:p>
            <a:pPr>
              <a:buFont typeface="Wingdings" panose="05000000000000000000" pitchFamily="2" charset="2"/>
              <a:buChar char="v"/>
            </a:pPr>
            <a:r>
              <a:rPr lang="en-US" sz="2000" dirty="0"/>
              <a:t> A custom function was created to predict match winner</a:t>
            </a:r>
          </a:p>
          <a:p>
            <a:pPr>
              <a:buFont typeface="Wingdings" panose="05000000000000000000" pitchFamily="2" charset="2"/>
              <a:buChar char="v"/>
            </a:pPr>
            <a:r>
              <a:rPr lang="en-US" sz="2000" dirty="0"/>
              <a:t>Inputs required:</a:t>
            </a:r>
          </a:p>
          <a:p>
            <a:pPr lvl="1">
              <a:buFont typeface="Wingdings" panose="05000000000000000000" pitchFamily="2" charset="2"/>
              <a:buChar char="Ø"/>
            </a:pPr>
            <a:r>
              <a:rPr lang="en-US" dirty="0"/>
              <a:t>Two teams</a:t>
            </a:r>
          </a:p>
          <a:p>
            <a:pPr lvl="1">
              <a:buFont typeface="Wingdings" panose="05000000000000000000" pitchFamily="2" charset="2"/>
              <a:buChar char="Ø"/>
            </a:pPr>
            <a:r>
              <a:rPr lang="en-US" dirty="0"/>
              <a:t>Toss winner</a:t>
            </a:r>
          </a:p>
          <a:p>
            <a:pPr lvl="1">
              <a:buFont typeface="Wingdings" panose="05000000000000000000" pitchFamily="2" charset="2"/>
              <a:buChar char="Ø"/>
            </a:pPr>
            <a:r>
              <a:rPr lang="en-US" dirty="0"/>
              <a:t>Bat/Bowl decision</a:t>
            </a:r>
          </a:p>
          <a:p>
            <a:pPr lvl="1">
              <a:buFont typeface="Wingdings" panose="05000000000000000000" pitchFamily="2" charset="2"/>
              <a:buChar char="Ø"/>
            </a:pPr>
            <a:r>
              <a:rPr lang="en-US" dirty="0"/>
              <a:t>Venue</a:t>
            </a:r>
          </a:p>
          <a:p>
            <a:pPr marL="0" indent="0">
              <a:buNone/>
            </a:pPr>
            <a:r>
              <a:rPr lang="en-US" sz="2000" b="1" dirty="0"/>
              <a:t>Returns : </a:t>
            </a:r>
            <a:r>
              <a:rPr lang="en-US" sz="2000" dirty="0"/>
              <a:t>Predicted winning team</a:t>
            </a:r>
          </a:p>
        </p:txBody>
      </p:sp>
    </p:spTree>
    <p:extLst>
      <p:ext uri="{BB962C8B-B14F-4D97-AF65-F5344CB8AC3E}">
        <p14:creationId xmlns:p14="http://schemas.microsoft.com/office/powerpoint/2010/main" val="841907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729817-1C64-F8F1-959C-6D46FB5FE7E7}"/>
              </a:ext>
            </a:extLst>
          </p:cNvPr>
          <p:cNvSpPr>
            <a:spLocks noGrp="1"/>
          </p:cNvSpPr>
          <p:nvPr>
            <p:ph type="title"/>
          </p:nvPr>
        </p:nvSpPr>
        <p:spPr>
          <a:xfrm>
            <a:off x="1086643" y="685800"/>
            <a:ext cx="10018713" cy="1752599"/>
          </a:xfrm>
        </p:spPr>
        <p:txBody>
          <a:bodyPr/>
          <a:lstStyle/>
          <a:p>
            <a:r>
              <a:rPr lang="en-IN" dirty="0"/>
              <a:t>Example Prediction</a:t>
            </a:r>
          </a:p>
        </p:txBody>
      </p:sp>
      <p:sp>
        <p:nvSpPr>
          <p:cNvPr id="5" name="Content Placeholder 2">
            <a:extLst>
              <a:ext uri="{FF2B5EF4-FFF2-40B4-BE49-F238E27FC236}">
                <a16:creationId xmlns:a16="http://schemas.microsoft.com/office/drawing/2014/main" id="{68247EA6-9153-32D2-555E-2CBABC7D845A}"/>
              </a:ext>
            </a:extLst>
          </p:cNvPr>
          <p:cNvSpPr>
            <a:spLocks noGrp="1"/>
          </p:cNvSpPr>
          <p:nvPr>
            <p:ph idx="1"/>
          </p:nvPr>
        </p:nvSpPr>
        <p:spPr>
          <a:xfrm>
            <a:off x="1484310" y="1453243"/>
            <a:ext cx="10018713" cy="4991101"/>
          </a:xfrm>
        </p:spPr>
        <p:txBody>
          <a:bodyPr>
            <a:normAutofit/>
          </a:bodyPr>
          <a:lstStyle/>
          <a:p>
            <a:pPr>
              <a:buFont typeface="Wingdings" panose="05000000000000000000" pitchFamily="2" charset="2"/>
              <a:buChar char="v"/>
            </a:pPr>
            <a:r>
              <a:rPr lang="en-US" b="1" dirty="0"/>
              <a:t> Input Example :</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a:buFont typeface="Wingdings" panose="05000000000000000000" pitchFamily="2" charset="2"/>
              <a:buChar char="v"/>
            </a:pPr>
            <a:r>
              <a:rPr lang="en-US" b="1" dirty="0"/>
              <a:t> Model Output :</a:t>
            </a:r>
          </a:p>
        </p:txBody>
      </p:sp>
      <p:pic>
        <p:nvPicPr>
          <p:cNvPr id="3" name="Picture 2">
            <a:extLst>
              <a:ext uri="{FF2B5EF4-FFF2-40B4-BE49-F238E27FC236}">
                <a16:creationId xmlns:a16="http://schemas.microsoft.com/office/drawing/2014/main" id="{71AFD337-3AFC-8637-3D1C-262CDF1ACEB8}"/>
              </a:ext>
            </a:extLst>
          </p:cNvPr>
          <p:cNvPicPr>
            <a:picLocks noChangeAspect="1"/>
          </p:cNvPicPr>
          <p:nvPr/>
        </p:nvPicPr>
        <p:blipFill>
          <a:blip r:embed="rId2"/>
          <a:stretch>
            <a:fillRect/>
          </a:stretch>
        </p:blipFill>
        <p:spPr>
          <a:xfrm>
            <a:off x="4495984" y="2246910"/>
            <a:ext cx="5834557" cy="2564576"/>
          </a:xfrm>
          <a:prstGeom prst="rect">
            <a:avLst/>
          </a:prstGeom>
        </p:spPr>
      </p:pic>
      <p:pic>
        <p:nvPicPr>
          <p:cNvPr id="7" name="Picture 6" descr="A screen shot of a black background&#10;&#10;AI-generated content may be incorrect.">
            <a:extLst>
              <a:ext uri="{FF2B5EF4-FFF2-40B4-BE49-F238E27FC236}">
                <a16:creationId xmlns:a16="http://schemas.microsoft.com/office/drawing/2014/main" id="{5EDFB260-20D8-9ADC-6F08-D30F978F2766}"/>
              </a:ext>
            </a:extLst>
          </p:cNvPr>
          <p:cNvPicPr>
            <a:picLocks noChangeAspect="1"/>
          </p:cNvPicPr>
          <p:nvPr/>
        </p:nvPicPr>
        <p:blipFill>
          <a:blip r:embed="rId3"/>
          <a:stretch>
            <a:fillRect/>
          </a:stretch>
        </p:blipFill>
        <p:spPr>
          <a:xfrm>
            <a:off x="4506868" y="5126728"/>
            <a:ext cx="4321445" cy="1564515"/>
          </a:xfrm>
          <a:prstGeom prst="rect">
            <a:avLst/>
          </a:prstGeom>
        </p:spPr>
      </p:pic>
    </p:spTree>
    <p:extLst>
      <p:ext uri="{BB962C8B-B14F-4D97-AF65-F5344CB8AC3E}">
        <p14:creationId xmlns:p14="http://schemas.microsoft.com/office/powerpoint/2010/main" val="4135675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0092F5-9166-36A1-89B3-01DDEEEE4E60}"/>
              </a:ext>
            </a:extLst>
          </p:cNvPr>
          <p:cNvSpPr>
            <a:spLocks noGrp="1"/>
          </p:cNvSpPr>
          <p:nvPr>
            <p:ph type="title"/>
          </p:nvPr>
        </p:nvSpPr>
        <p:spPr>
          <a:xfrm>
            <a:off x="1086643" y="685800"/>
            <a:ext cx="10018713" cy="1752599"/>
          </a:xfrm>
        </p:spPr>
        <p:txBody>
          <a:bodyPr/>
          <a:lstStyle/>
          <a:p>
            <a:r>
              <a:rPr lang="en-IN" dirty="0"/>
              <a:t>Conclusion</a:t>
            </a:r>
          </a:p>
        </p:txBody>
      </p:sp>
      <p:sp>
        <p:nvSpPr>
          <p:cNvPr id="5" name="Content Placeholder 2">
            <a:extLst>
              <a:ext uri="{FF2B5EF4-FFF2-40B4-BE49-F238E27FC236}">
                <a16:creationId xmlns:a16="http://schemas.microsoft.com/office/drawing/2014/main" id="{AE1F20F0-DB3B-7913-42BE-8C9803F8788E}"/>
              </a:ext>
            </a:extLst>
          </p:cNvPr>
          <p:cNvSpPr>
            <a:spLocks noGrp="1"/>
          </p:cNvSpPr>
          <p:nvPr>
            <p:ph idx="1"/>
          </p:nvPr>
        </p:nvSpPr>
        <p:spPr>
          <a:xfrm>
            <a:off x="1484310" y="2666999"/>
            <a:ext cx="10018713" cy="3124201"/>
          </a:xfrm>
        </p:spPr>
        <p:txBody>
          <a:bodyPr>
            <a:normAutofit/>
          </a:bodyPr>
          <a:lstStyle/>
          <a:p>
            <a:pPr>
              <a:buFont typeface="Wingdings" panose="05000000000000000000" pitchFamily="2" charset="2"/>
              <a:buChar char="Ø"/>
            </a:pPr>
            <a:r>
              <a:rPr lang="en-US" sz="2000" dirty="0"/>
              <a:t> Random Forest model successfully predicts IPL match winners.</a:t>
            </a:r>
          </a:p>
          <a:p>
            <a:pPr>
              <a:buFont typeface="Wingdings" panose="05000000000000000000" pitchFamily="2" charset="2"/>
              <a:buChar char="Ø"/>
            </a:pPr>
            <a:r>
              <a:rPr lang="en-US" sz="2000" dirty="0"/>
              <a:t> Factors like venue, toss, team strength, and runs/wickets play major roles.</a:t>
            </a:r>
          </a:p>
          <a:p>
            <a:pPr>
              <a:buFont typeface="Wingdings" panose="05000000000000000000" pitchFamily="2" charset="2"/>
              <a:buChar char="Ø"/>
            </a:pPr>
            <a:r>
              <a:rPr lang="en-US" sz="2000" dirty="0"/>
              <a:t> The model achieved strong accuracy and reliable performance.</a:t>
            </a:r>
          </a:p>
          <a:p>
            <a:pPr>
              <a:buFont typeface="Wingdings" panose="05000000000000000000" pitchFamily="2" charset="2"/>
              <a:buChar char="Ø"/>
            </a:pPr>
            <a:r>
              <a:rPr lang="en-US" sz="2000" dirty="0"/>
              <a:t> Machine Learning can be effectively used in sports analytics.</a:t>
            </a:r>
          </a:p>
        </p:txBody>
      </p:sp>
    </p:spTree>
    <p:extLst>
      <p:ext uri="{BB962C8B-B14F-4D97-AF65-F5344CB8AC3E}">
        <p14:creationId xmlns:p14="http://schemas.microsoft.com/office/powerpoint/2010/main" val="570967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BC3DA0-CE3F-B038-A405-BF08D6B04505}"/>
              </a:ext>
            </a:extLst>
          </p:cNvPr>
          <p:cNvSpPr>
            <a:spLocks noGrp="1"/>
          </p:cNvSpPr>
          <p:nvPr>
            <p:ph type="title"/>
          </p:nvPr>
        </p:nvSpPr>
        <p:spPr>
          <a:xfrm>
            <a:off x="1086643" y="718456"/>
            <a:ext cx="10018713" cy="1752599"/>
          </a:xfrm>
        </p:spPr>
        <p:txBody>
          <a:bodyPr/>
          <a:lstStyle/>
          <a:p>
            <a:r>
              <a:rPr lang="en-IN" dirty="0"/>
              <a:t>Limitations</a:t>
            </a:r>
          </a:p>
        </p:txBody>
      </p:sp>
      <p:sp>
        <p:nvSpPr>
          <p:cNvPr id="5" name="Content Placeholder 2">
            <a:extLst>
              <a:ext uri="{FF2B5EF4-FFF2-40B4-BE49-F238E27FC236}">
                <a16:creationId xmlns:a16="http://schemas.microsoft.com/office/drawing/2014/main" id="{40A32F77-8FB3-CE7A-0BB3-14ADEF7E4E44}"/>
              </a:ext>
            </a:extLst>
          </p:cNvPr>
          <p:cNvSpPr>
            <a:spLocks noGrp="1"/>
          </p:cNvSpPr>
          <p:nvPr>
            <p:ph idx="1"/>
          </p:nvPr>
        </p:nvSpPr>
        <p:spPr>
          <a:xfrm>
            <a:off x="1484310" y="2666999"/>
            <a:ext cx="10018713" cy="3124201"/>
          </a:xfrm>
        </p:spPr>
        <p:txBody>
          <a:bodyPr>
            <a:normAutofit/>
          </a:bodyPr>
          <a:lstStyle/>
          <a:p>
            <a:pPr>
              <a:buFont typeface="Wingdings" panose="05000000000000000000" pitchFamily="2" charset="2"/>
              <a:buChar char="Ø"/>
            </a:pPr>
            <a:r>
              <a:rPr lang="en-US" sz="2000" dirty="0"/>
              <a:t> Does not include player form or injury updates</a:t>
            </a:r>
          </a:p>
          <a:p>
            <a:pPr>
              <a:buFont typeface="Wingdings" panose="05000000000000000000" pitchFamily="2" charset="2"/>
              <a:buChar char="Ø"/>
            </a:pPr>
            <a:r>
              <a:rPr lang="en-US" sz="2000" dirty="0"/>
              <a:t> Does not use pitch reports or weather data</a:t>
            </a:r>
          </a:p>
          <a:p>
            <a:pPr>
              <a:buFont typeface="Wingdings" panose="05000000000000000000" pitchFamily="2" charset="2"/>
              <a:buChar char="Ø"/>
            </a:pPr>
            <a:r>
              <a:rPr lang="en-US" sz="2000" dirty="0"/>
              <a:t> Match outcome depends on many dynamic factors not in </a:t>
            </a:r>
            <a:r>
              <a:rPr lang="en-US" sz="2000" dirty="0" err="1"/>
              <a:t>dataseta</a:t>
            </a:r>
            <a:endParaRPr lang="en-US" sz="2000" dirty="0"/>
          </a:p>
          <a:p>
            <a:pPr>
              <a:buFont typeface="Wingdings" panose="05000000000000000000" pitchFamily="2" charset="2"/>
              <a:buChar char="Ø"/>
            </a:pPr>
            <a:r>
              <a:rPr lang="en-US" sz="2000" dirty="0"/>
              <a:t> Past performance doesn’t always guarantee future results</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624108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209607A-4CFF-0816-E009-DCD276116CB0}"/>
              </a:ext>
            </a:extLst>
          </p:cNvPr>
          <p:cNvSpPr>
            <a:spLocks noGrp="1"/>
          </p:cNvSpPr>
          <p:nvPr>
            <p:ph type="title"/>
          </p:nvPr>
        </p:nvSpPr>
        <p:spPr>
          <a:xfrm>
            <a:off x="1086643" y="685800"/>
            <a:ext cx="10018713" cy="1752599"/>
          </a:xfrm>
        </p:spPr>
        <p:txBody>
          <a:bodyPr/>
          <a:lstStyle/>
          <a:p>
            <a:r>
              <a:rPr lang="en-IN" dirty="0"/>
              <a:t>Future Scope</a:t>
            </a:r>
          </a:p>
        </p:txBody>
      </p:sp>
      <p:sp>
        <p:nvSpPr>
          <p:cNvPr id="5" name="Content Placeholder 2">
            <a:extLst>
              <a:ext uri="{FF2B5EF4-FFF2-40B4-BE49-F238E27FC236}">
                <a16:creationId xmlns:a16="http://schemas.microsoft.com/office/drawing/2014/main" id="{48A19BF6-5096-BC98-5CA8-92F74C719557}"/>
              </a:ext>
            </a:extLst>
          </p:cNvPr>
          <p:cNvSpPr>
            <a:spLocks noGrp="1"/>
          </p:cNvSpPr>
          <p:nvPr>
            <p:ph idx="1"/>
          </p:nvPr>
        </p:nvSpPr>
        <p:spPr>
          <a:xfrm>
            <a:off x="1484310" y="2666999"/>
            <a:ext cx="10018713" cy="3124201"/>
          </a:xfrm>
        </p:spPr>
        <p:txBody>
          <a:bodyPr>
            <a:normAutofit/>
          </a:bodyPr>
          <a:lstStyle/>
          <a:p>
            <a:pPr>
              <a:buFont typeface="Wingdings" panose="05000000000000000000" pitchFamily="2" charset="2"/>
              <a:buChar char="Ø"/>
            </a:pPr>
            <a:r>
              <a:rPr lang="en-US" sz="2000" dirty="0"/>
              <a:t> Add player-level features (runs, wickets, strike rate, economy)</a:t>
            </a:r>
          </a:p>
          <a:p>
            <a:pPr>
              <a:buFont typeface="Wingdings" panose="05000000000000000000" pitchFamily="2" charset="2"/>
              <a:buChar char="Ø"/>
            </a:pPr>
            <a:r>
              <a:rPr lang="en-US" sz="2000" dirty="0"/>
              <a:t> Include ball-by-ball data</a:t>
            </a:r>
          </a:p>
          <a:p>
            <a:pPr>
              <a:buFont typeface="Wingdings" panose="05000000000000000000" pitchFamily="2" charset="2"/>
              <a:buChar char="Ø"/>
            </a:pPr>
            <a:r>
              <a:rPr lang="en-US" sz="2000" dirty="0"/>
              <a:t> Use deep learning for better accuracy</a:t>
            </a:r>
          </a:p>
          <a:p>
            <a:pPr>
              <a:buFont typeface="Wingdings" panose="05000000000000000000" pitchFamily="2" charset="2"/>
              <a:buChar char="Ø"/>
            </a:pPr>
            <a:r>
              <a:rPr lang="en-US" sz="2000" dirty="0"/>
              <a:t> Build a live prediction dashboard</a:t>
            </a:r>
          </a:p>
          <a:p>
            <a:pPr>
              <a:buFont typeface="Wingdings" panose="05000000000000000000" pitchFamily="2" charset="2"/>
              <a:buChar char="Ø"/>
            </a:pPr>
            <a:r>
              <a:rPr lang="en-US" sz="2000" dirty="0"/>
              <a:t> Use web scraping to update model every season</a:t>
            </a:r>
          </a:p>
        </p:txBody>
      </p:sp>
    </p:spTree>
    <p:extLst>
      <p:ext uri="{BB962C8B-B14F-4D97-AF65-F5344CB8AC3E}">
        <p14:creationId xmlns:p14="http://schemas.microsoft.com/office/powerpoint/2010/main" val="4294575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FC53-52CE-0D02-9DA7-F7D38CEDEACA}"/>
              </a:ext>
            </a:extLst>
          </p:cNvPr>
          <p:cNvSpPr>
            <a:spLocks noGrp="1"/>
          </p:cNvSpPr>
          <p:nvPr>
            <p:ph type="title"/>
          </p:nvPr>
        </p:nvSpPr>
        <p:spPr>
          <a:xfrm>
            <a:off x="1086643" y="2552700"/>
            <a:ext cx="10018713" cy="1752599"/>
          </a:xfrm>
        </p:spPr>
        <p:txBody>
          <a:bodyPr>
            <a:normAutofit/>
          </a:bodyPr>
          <a:lstStyle/>
          <a:p>
            <a:r>
              <a:rPr lang="en-IN" sz="6000" dirty="0"/>
              <a:t>Thank You</a:t>
            </a:r>
          </a:p>
        </p:txBody>
      </p:sp>
    </p:spTree>
    <p:extLst>
      <p:ext uri="{BB962C8B-B14F-4D97-AF65-F5344CB8AC3E}">
        <p14:creationId xmlns:p14="http://schemas.microsoft.com/office/powerpoint/2010/main" val="40656014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438</TotalTime>
  <Words>928</Words>
  <Application>Microsoft Office PowerPoint</Application>
  <PresentationFormat>Widescreen</PresentationFormat>
  <Paragraphs>132</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Corbel</vt:lpstr>
      <vt:lpstr>Wingdings</vt:lpstr>
      <vt:lpstr>Parallax</vt:lpstr>
      <vt:lpstr>IPL MATCH WINNER PREDICTION</vt:lpstr>
      <vt:lpstr>Problem Statement</vt:lpstr>
      <vt:lpstr>Dataset Description</vt:lpstr>
      <vt:lpstr>Data Cleaning</vt:lpstr>
      <vt:lpstr>Outlier Handling</vt:lpstr>
      <vt:lpstr>Exploratory Data Analysis (EDA)</vt:lpstr>
      <vt:lpstr>Match Count</vt:lpstr>
      <vt:lpstr>Match Winner Count</vt:lpstr>
      <vt:lpstr>Toss Decision (Bat or Bowl)</vt:lpstr>
      <vt:lpstr>Winning Team by Venue</vt:lpstr>
      <vt:lpstr>Number of Matches Played Per Venue</vt:lpstr>
      <vt:lpstr>Season-wise Matches Played</vt:lpstr>
      <vt:lpstr>Top 10 Captains With Most Wins</vt:lpstr>
      <vt:lpstr>Toss vs Match Winner (Does Toss Matter?)</vt:lpstr>
      <vt:lpstr>Key Insights From EDA</vt:lpstr>
      <vt:lpstr>ML Model Selection</vt:lpstr>
      <vt:lpstr>Model Building</vt:lpstr>
      <vt:lpstr>Train-Test Split</vt:lpstr>
      <vt:lpstr>Model Performance</vt:lpstr>
      <vt:lpstr>Winner Prediction Function</vt:lpstr>
      <vt:lpstr>Example Prediction</vt:lpstr>
      <vt:lpstr>Conclusion</vt:lpstr>
      <vt:lpstr>Limitations</vt:lpstr>
      <vt:lpstr>Future Scope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Aditya Kumar Singh</cp:lastModifiedBy>
  <cp:revision>28</cp:revision>
  <dcterms:created xsi:type="dcterms:W3CDTF">2013-01-27T09:14:16Z</dcterms:created>
  <dcterms:modified xsi:type="dcterms:W3CDTF">2025-12-15T10:43:07Z</dcterms:modified>
  <cp:category/>
</cp:coreProperties>
</file>